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4C9FE-4F1C-4259-A8BE-7F9A892CE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FC0FA-739B-47E6-90B8-6F0657B09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1A6CFA-1B2C-41EC-A387-B5269344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1408EC-5CCD-4A8D-B407-20E2FDA2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4D321-A6B2-40F9-B4A4-74683BDC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009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2C7C3-EADF-4D69-9091-C15CCDB1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55109-561C-436F-90BE-8A68B6567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C076ED-4BF7-4A08-BA9A-BB5CAC6A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70DEDD-E07A-47CC-80A6-81A5E5AD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2D913-9F79-4F4F-979B-5D0120CA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623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B8D02-C51C-4EDB-8C70-F059B7AB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0AD5EC-5427-479C-B3A3-0687D26D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CB3681-8F26-4CE8-9ABC-03442CAB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3537E-87F5-4539-AD75-DA2441EA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9C5114-7E30-479F-8720-435D1CB3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405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39C8D-6BBC-41A1-ABA6-0BAE6961E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CBAD8D-DEAD-4D95-90A3-972AAB098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E51227-00FF-46AB-9431-33CA7CFC1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4519FE-2D11-4483-85DA-E534A009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6751CC-F379-4A9D-A8D6-9455713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B3A2C8-6D3A-456F-B025-8D125251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075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5DE8-F823-4B01-AA4A-FB2CD962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41E939-4CD2-4A00-B98E-9787ADADE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33BBCB-D4A5-4132-8EAF-32F51F634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0CC55C-629B-4097-9A10-CDE34B7CF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2224B2-5F3B-4FD6-B3B5-77884C988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70035D-033D-42D2-B07C-D58A03C2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8BB66-9D59-49C0-952D-4FC9B7DB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16CF16-6D17-4B65-BD16-3530A4B9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854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EBE1D-FED5-4B10-B4F7-B7BAB7A3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B434B3-703D-474C-B625-3FFB91261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F4236D-AB84-4504-B814-A1C31FD9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A16DEE-218F-4570-8931-6EA66FF4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299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5F09FF-87B5-4ED6-AD03-A7134E5E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FE3B69-46A1-4CC9-9E8F-F4874B96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E73471-C2FC-4BB6-8340-79B57092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27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85398-B349-4719-82BC-C35246FC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F99B0C-CC6D-458B-A9C5-F46E2863B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973F54-DCE6-41BA-BFFC-D3834B000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151BA0-8AE5-4D8B-A782-733CFCF3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5730D2-3013-4AA8-877B-459CDD69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5EAAC-EA1C-4625-B721-7D37BE5E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486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5997F-E01A-4E4B-A5DD-4EE5AE58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BBE109-7BCB-465D-88C7-30F8C54F8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CC58FA-11C2-4E29-B80F-DB451315E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5EFD3-7982-4900-9599-7F972720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83384-113E-4ED5-A522-B3F07768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5741F2-AC71-465B-949E-613D0733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749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1CC20-12FA-460B-9C4B-AAF08B22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FF603A-1BE8-469A-B4DA-961E2DE29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1CF99-7572-4E41-B6BD-18F831D5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87D21-C19B-47EE-B860-16C9A128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DD6494-564D-4223-98F8-B5E420E2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472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4487B1-89E4-48A8-9F5C-AC0CD07AF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D5A07A-ECF8-4AB6-BD28-9632E7AD6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57DA61-2D96-42C8-A47C-2E944297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0920B9-F847-4303-8225-8DCB87CD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0521C5-81E8-43BD-8F1B-57825BB3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570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325200-D753-423D-813C-CF590E4D6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B36154-4977-443E-8B8B-8AD9E37BF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DFBA2D-4702-4F13-BAF5-CB9F512F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E1CA6-4E8F-4F2A-A672-4F4B58659017}" type="datetimeFigureOut">
              <a:rPr lang="es-CO" smtClean="0"/>
              <a:t>16/02/2022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470706-C286-4C92-B8D7-F7D7E4EDE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17FA57-9EC9-40A5-BB44-59922B225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4CD92-BEF6-4BD2-B84F-067F5AFC68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856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-nb.info/1211396851/34?fbclid=IwAR3npXXnQvIAVpUCmBJBzqAdVWBLDGQRbxcrWQIjpgFFKJOfOYn2fwMCukc" TargetMode="External"/><Relationship Id="rId2" Type="http://schemas.openxmlformats.org/officeDocument/2006/relationships/hyperlink" Target="https://www.cancer.gov/espanol/publicaciones/diccionarios/diccionario-cancer/def/tnp-47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C6F27-C5DA-4BF8-90AA-10AF7DAC2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Proyecto 1: </a:t>
            </a:r>
            <a:r>
              <a:rPr lang="en-US" dirty="0" err="1"/>
              <a:t>Introducción</a:t>
            </a:r>
            <a:r>
              <a:rPr lang="en-US" dirty="0"/>
              <a:t> a la </a:t>
            </a:r>
            <a:r>
              <a:rPr lang="en-US" dirty="0" err="1"/>
              <a:t>Ciencia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C8D282-CDAB-4D6F-A8F2-59651BDB3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Manuel Fernando Sánchez </a:t>
            </a:r>
            <a:r>
              <a:rPr lang="en-US" dirty="0" err="1"/>
              <a:t>Alarcón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0011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79E73-FC99-4F7C-BCE5-9C35CC3E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del Proyecto: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71BBB0-9372-44C7-A8D1-0B471FB2C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Comprobar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aplicación</a:t>
            </a:r>
            <a:r>
              <a:rPr lang="en-US" dirty="0"/>
              <a:t> de una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dosis</a:t>
            </a:r>
            <a:r>
              <a:rPr lang="en-US" dirty="0"/>
              <a:t> de un </a:t>
            </a:r>
            <a:r>
              <a:rPr lang="en-US" dirty="0" err="1"/>
              <a:t>medicamento</a:t>
            </a:r>
            <a:r>
              <a:rPr lang="en-US" dirty="0"/>
              <a:t> (synthetic fumagillin TNP-470 analogue) contra </a:t>
            </a:r>
            <a:r>
              <a:rPr lang="en-US" dirty="0" err="1"/>
              <a:t>el</a:t>
            </a:r>
            <a:r>
              <a:rPr lang="en-US" dirty="0"/>
              <a:t> cancer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ratones</a:t>
            </a:r>
            <a:r>
              <a:rPr lang="en-US" dirty="0"/>
              <a:t> (BALB c) </a:t>
            </a:r>
            <a:r>
              <a:rPr lang="en-US" dirty="0" err="1"/>
              <a:t>disminuye</a:t>
            </a:r>
            <a:r>
              <a:rPr lang="en-US" dirty="0"/>
              <a:t> </a:t>
            </a:r>
            <a:r>
              <a:rPr lang="es-CO" dirty="0" err="1"/>
              <a:t>significamente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n-US" dirty="0"/>
              <a:t> de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tumores</a:t>
            </a:r>
            <a:r>
              <a:rPr lang="en-US" dirty="0"/>
              <a:t> al día 25 </a:t>
            </a:r>
            <a:r>
              <a:rPr lang="en-US" dirty="0" err="1"/>
              <a:t>luego</a:t>
            </a:r>
            <a:r>
              <a:rPr lang="en-US" dirty="0"/>
              <a:t> del </a:t>
            </a:r>
            <a:r>
              <a:rPr lang="en-US" dirty="0" err="1"/>
              <a:t>inicio</a:t>
            </a:r>
            <a:r>
              <a:rPr lang="en-US" dirty="0"/>
              <a:t> del </a:t>
            </a:r>
            <a:r>
              <a:rPr lang="en-US" dirty="0" err="1"/>
              <a:t>tratamiento</a:t>
            </a:r>
            <a:r>
              <a:rPr lang="en-US" dirty="0"/>
              <a:t>.</a:t>
            </a:r>
          </a:p>
          <a:p>
            <a:r>
              <a:rPr lang="en-US" dirty="0" err="1"/>
              <a:t>Comprobar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una </a:t>
            </a:r>
            <a:r>
              <a:rPr lang="en-US" dirty="0" err="1"/>
              <a:t>dosis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baja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un </a:t>
            </a:r>
            <a:r>
              <a:rPr lang="en-US" dirty="0" err="1"/>
              <a:t>efecto</a:t>
            </a:r>
            <a:r>
              <a:rPr lang="en-US" dirty="0"/>
              <a:t> similar </a:t>
            </a:r>
            <a:r>
              <a:rPr lang="en-US" dirty="0" err="1"/>
              <a:t>sobre</a:t>
            </a:r>
            <a:r>
              <a:rPr lang="en-US" dirty="0"/>
              <a:t> los </a:t>
            </a:r>
            <a:r>
              <a:rPr lang="en-US" dirty="0" err="1"/>
              <a:t>ratones</a:t>
            </a:r>
            <a:r>
              <a:rPr lang="en-US" dirty="0"/>
              <a:t> que una </a:t>
            </a:r>
            <a:r>
              <a:rPr lang="en-US" dirty="0" err="1"/>
              <a:t>dosis</a:t>
            </a:r>
            <a:r>
              <a:rPr lang="en-US" dirty="0"/>
              <a:t> </a:t>
            </a:r>
            <a:r>
              <a:rPr lang="en-US" dirty="0" err="1"/>
              <a:t>alta.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6892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B7912-24F4-4314-A3D7-E005BBF8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medicamento</a:t>
            </a:r>
            <a:r>
              <a:rPr lang="en-US" dirty="0"/>
              <a:t> </a:t>
            </a:r>
            <a:r>
              <a:rPr lang="en-US" dirty="0" err="1"/>
              <a:t>usado</a:t>
            </a:r>
            <a:r>
              <a:rPr lang="en-US" dirty="0"/>
              <a:t> y los </a:t>
            </a:r>
            <a:r>
              <a:rPr lang="en-US" dirty="0" err="1"/>
              <a:t>datos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1AB694-CFE8-499C-BC42-95FAA15B2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TNP-470 es una </a:t>
            </a:r>
            <a:r>
              <a:rPr lang="es-MX" dirty="0"/>
              <a:t>sustancia en estudio para el tratamiento de cáncer. Podría prevenir la formación de vasos sanguíneos nuevos que los tumores necesitan para crecer [1].</a:t>
            </a:r>
          </a:p>
          <a:p>
            <a:r>
              <a:rPr lang="es-MX" dirty="0"/>
              <a:t>Los datos fueron tomados de un estudio donde se hace un análisis general (no por semanas) de tres grupos de ratones de la cepa BALB c: Un grupo de control, un grupo al que se le aplica una dosis baja de medicamento y un grupo al que se el aplica una dosis alta. Las dosis exactas no fueron especificadas [2].</a:t>
            </a:r>
          </a:p>
        </p:txBody>
      </p:sp>
    </p:spTree>
    <p:extLst>
      <p:ext uri="{BB962C8B-B14F-4D97-AF65-F5344CB8AC3E}">
        <p14:creationId xmlns:p14="http://schemas.microsoft.com/office/powerpoint/2010/main" val="307036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3E44C-AA98-4876-BA49-4CB55734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nulas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C48F94-ED38-4394-B571-DD305F7F1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 </a:t>
            </a:r>
            <a:r>
              <a:rPr lang="en-US" dirty="0" err="1"/>
              <a:t>dosis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de </a:t>
            </a:r>
            <a:r>
              <a:rPr lang="en-US" dirty="0" err="1"/>
              <a:t>medicamento</a:t>
            </a:r>
            <a:r>
              <a:rPr lang="en-US" dirty="0"/>
              <a:t> </a:t>
            </a:r>
            <a:r>
              <a:rPr lang="en-US" dirty="0" err="1"/>
              <a:t>disminuirá</a:t>
            </a:r>
            <a:r>
              <a:rPr lang="en-US" dirty="0"/>
              <a:t> </a:t>
            </a:r>
            <a:r>
              <a:rPr lang="en-US" dirty="0" err="1"/>
              <a:t>significativamente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s-CO" dirty="0"/>
              <a:t> de tumores en ratones.</a:t>
            </a:r>
          </a:p>
          <a:p>
            <a:r>
              <a:rPr lang="es-CO" dirty="0"/>
              <a:t>Una dosis baja también disminuye el volumen, pero no tan </a:t>
            </a:r>
            <a:r>
              <a:rPr lang="es-CO" dirty="0" err="1"/>
              <a:t>significamente</a:t>
            </a:r>
            <a:r>
              <a:rPr lang="es-CO" dirty="0"/>
              <a:t> como una dosis alta. </a:t>
            </a:r>
          </a:p>
        </p:txBody>
      </p:sp>
    </p:spTree>
    <p:extLst>
      <p:ext uri="{BB962C8B-B14F-4D97-AF65-F5344CB8AC3E}">
        <p14:creationId xmlns:p14="http://schemas.microsoft.com/office/powerpoint/2010/main" val="2990497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E37D8-C5EA-461F-B1FA-38C21B7B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EC59D3-0AA6-4149-9C28-84FE81EA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80" y="1900603"/>
            <a:ext cx="5505820" cy="386992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F5345BF-2E53-44A7-850D-ED5F020F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192" y="1814877"/>
            <a:ext cx="5281649" cy="378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1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B092D0-F0AE-4566-8F47-85D92A44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4" y="1187157"/>
            <a:ext cx="6021606" cy="448368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CD46D84-C805-44AA-A5AC-CCB8900C9BE0}"/>
              </a:ext>
            </a:extLst>
          </p:cNvPr>
          <p:cNvSpPr txBox="1"/>
          <p:nvPr/>
        </p:nvSpPr>
        <p:spPr>
          <a:xfrm>
            <a:off x="6880194" y="843379"/>
            <a:ext cx="4793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Grupo 0</a:t>
            </a:r>
            <a:r>
              <a:rPr lang="en-US" dirty="0"/>
              <a:t>: Grupo de control</a:t>
            </a:r>
          </a:p>
          <a:p>
            <a:r>
              <a:rPr lang="en-US" b="1" dirty="0"/>
              <a:t>Grupo 1</a:t>
            </a:r>
            <a:r>
              <a:rPr lang="en-US" dirty="0"/>
              <a:t>: Grupo de </a:t>
            </a:r>
            <a:r>
              <a:rPr lang="en-US" dirty="0" err="1"/>
              <a:t>baja</a:t>
            </a:r>
            <a:r>
              <a:rPr lang="en-US" dirty="0"/>
              <a:t> </a:t>
            </a:r>
            <a:r>
              <a:rPr lang="en-US" dirty="0" err="1"/>
              <a:t>dosis</a:t>
            </a:r>
            <a:endParaRPr lang="en-US" dirty="0"/>
          </a:p>
          <a:p>
            <a:r>
              <a:rPr lang="en-US" b="1" dirty="0"/>
              <a:t>Grupo 2</a:t>
            </a:r>
            <a:r>
              <a:rPr lang="en-US" dirty="0"/>
              <a:t>: Grupo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dosis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B17DA41-F833-4F9E-BF17-2CFF8C57CD06}"/>
              </a:ext>
            </a:extLst>
          </p:cNvPr>
          <p:cNvSpPr txBox="1"/>
          <p:nvPr/>
        </p:nvSpPr>
        <p:spPr>
          <a:xfrm>
            <a:off x="6880194" y="2658862"/>
            <a:ext cx="4607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Promedio</a:t>
            </a:r>
            <a:r>
              <a:rPr lang="en-US" b="1" dirty="0"/>
              <a:t> Grupo 0</a:t>
            </a:r>
            <a:r>
              <a:rPr lang="en-US" dirty="0"/>
              <a:t>: 1260.01 mm </a:t>
            </a:r>
            <a:r>
              <a:rPr lang="en-US" dirty="0" err="1"/>
              <a:t>cúbicos</a:t>
            </a:r>
            <a:endParaRPr lang="en-US" dirty="0"/>
          </a:p>
          <a:p>
            <a:r>
              <a:rPr lang="en-US" b="1" dirty="0" err="1"/>
              <a:t>Promedio</a:t>
            </a:r>
            <a:r>
              <a:rPr lang="en-US" b="1" dirty="0"/>
              <a:t> Grupo 1</a:t>
            </a:r>
            <a:r>
              <a:rPr lang="en-US" dirty="0"/>
              <a:t>: 1001.71 mm </a:t>
            </a:r>
            <a:r>
              <a:rPr lang="en-US" dirty="0" err="1"/>
              <a:t>cúbicos</a:t>
            </a:r>
            <a:endParaRPr lang="es-CO" dirty="0"/>
          </a:p>
          <a:p>
            <a:r>
              <a:rPr lang="en-US" b="1" dirty="0" err="1"/>
              <a:t>Promedio</a:t>
            </a:r>
            <a:r>
              <a:rPr lang="en-US" b="1" dirty="0"/>
              <a:t> Grupo 2</a:t>
            </a:r>
            <a:r>
              <a:rPr lang="en-US" dirty="0"/>
              <a:t>: 924.63 mm </a:t>
            </a:r>
            <a:r>
              <a:rPr lang="en-US" dirty="0" err="1"/>
              <a:t>cúbicos</a:t>
            </a:r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3EE44DF-0962-4392-AD5C-446F861A089E}"/>
              </a:ext>
            </a:extLst>
          </p:cNvPr>
          <p:cNvSpPr txBox="1"/>
          <p:nvPr/>
        </p:nvSpPr>
        <p:spPr>
          <a:xfrm>
            <a:off x="6880194" y="4474345"/>
            <a:ext cx="4012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Diferencias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volumen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Grupo 0 – Grupo 1 = 258.28 mm </a:t>
            </a:r>
            <a:r>
              <a:rPr lang="en-US" dirty="0" err="1"/>
              <a:t>cúbicos</a:t>
            </a:r>
            <a:endParaRPr lang="en-US" dirty="0"/>
          </a:p>
          <a:p>
            <a:r>
              <a:rPr lang="en-US" dirty="0"/>
              <a:t>Grupo 0 – Grupo 2 = 335.36 mm </a:t>
            </a:r>
            <a:r>
              <a:rPr lang="en-US" dirty="0" err="1"/>
              <a:t>cúbicos</a:t>
            </a:r>
            <a:endParaRPr lang="es-CO" dirty="0"/>
          </a:p>
          <a:p>
            <a:r>
              <a:rPr lang="en-US" dirty="0"/>
              <a:t>Grupo 0 – Grupo 1 = 77.07 mm </a:t>
            </a:r>
            <a:r>
              <a:rPr lang="en-US" dirty="0" err="1"/>
              <a:t>cúbicos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6485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7E5416D-5F2D-432F-9DA5-5635DEF3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16" y="582278"/>
            <a:ext cx="4128208" cy="28248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4F222C-61B9-42D6-AC4E-85C172641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763" y="626682"/>
            <a:ext cx="4128208" cy="27804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E1D5AEB-9169-4C51-ADAC-02EC49C05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941256"/>
            <a:ext cx="4214674" cy="283281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00063ED-D821-4267-9793-1BB75E078F87}"/>
              </a:ext>
            </a:extLst>
          </p:cNvPr>
          <p:cNvSpPr txBox="1"/>
          <p:nvPr/>
        </p:nvSpPr>
        <p:spPr>
          <a:xfrm>
            <a:off x="1846555" y="194761"/>
            <a:ext cx="206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p-value = 0.051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F352EF-3310-4D1E-AD24-45888CA23200}"/>
              </a:ext>
            </a:extLst>
          </p:cNvPr>
          <p:cNvSpPr txBox="1"/>
          <p:nvPr/>
        </p:nvSpPr>
        <p:spPr>
          <a:xfrm>
            <a:off x="8376822" y="194761"/>
            <a:ext cx="206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p-value = 0.015</a:t>
            </a:r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89AE8BF-26F6-434A-8FE6-ACFCC6D23307}"/>
              </a:ext>
            </a:extLst>
          </p:cNvPr>
          <p:cNvSpPr txBox="1"/>
          <p:nvPr/>
        </p:nvSpPr>
        <p:spPr>
          <a:xfrm>
            <a:off x="4981852" y="3571923"/>
            <a:ext cx="206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p-value = 0.311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374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BCF16-4284-4C4B-93C1-B94A0495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Conclusiones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92731B-BC22-4E6A-8158-3B8DD8FBD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Hay una </a:t>
            </a:r>
            <a:r>
              <a:rPr lang="en-US" dirty="0" err="1"/>
              <a:t>diferencia</a:t>
            </a:r>
            <a:r>
              <a:rPr lang="en-US" dirty="0"/>
              <a:t> notable entre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de control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de </a:t>
            </a:r>
            <a:r>
              <a:rPr lang="en-US" dirty="0" err="1"/>
              <a:t>dosis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, </a:t>
            </a:r>
            <a:r>
              <a:rPr lang="en-US" dirty="0" err="1"/>
              <a:t>caracterizado</a:t>
            </a:r>
            <a:r>
              <a:rPr lang="en-US" dirty="0"/>
              <a:t> por un p-value de 0.015.</a:t>
            </a:r>
          </a:p>
          <a:p>
            <a:r>
              <a:rPr lang="en-US" dirty="0"/>
              <a:t>Hay </a:t>
            </a:r>
            <a:r>
              <a:rPr lang="en-US" dirty="0" err="1"/>
              <a:t>también</a:t>
            </a:r>
            <a:r>
              <a:rPr lang="en-US" dirty="0"/>
              <a:t> una </a:t>
            </a:r>
            <a:r>
              <a:rPr lang="en-US" dirty="0" err="1"/>
              <a:t>diferencia</a:t>
            </a:r>
            <a:r>
              <a:rPr lang="en-US" dirty="0"/>
              <a:t> </a:t>
            </a:r>
            <a:r>
              <a:rPr lang="en-US" dirty="0" err="1"/>
              <a:t>significativa</a:t>
            </a:r>
            <a:r>
              <a:rPr lang="en-US" dirty="0"/>
              <a:t> entre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de </a:t>
            </a:r>
            <a:r>
              <a:rPr lang="en-US" dirty="0" err="1"/>
              <a:t>baja</a:t>
            </a:r>
            <a:r>
              <a:rPr lang="en-US" dirty="0"/>
              <a:t> </a:t>
            </a:r>
            <a:r>
              <a:rPr lang="en-US" dirty="0" err="1"/>
              <a:t>dosis</a:t>
            </a:r>
            <a:r>
              <a:rPr lang="en-US" dirty="0"/>
              <a:t> 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de control. Sin embargo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criterio</a:t>
            </a:r>
            <a:r>
              <a:rPr lang="en-US" dirty="0"/>
              <a:t> de p-value &lt; 0.05 no se </a:t>
            </a:r>
            <a:r>
              <a:rPr lang="en-US" dirty="0" err="1"/>
              <a:t>cumple</a:t>
            </a:r>
            <a:r>
              <a:rPr lang="en-US" dirty="0"/>
              <a:t>.</a:t>
            </a:r>
          </a:p>
          <a:p>
            <a:r>
              <a:rPr lang="en-US" dirty="0"/>
              <a:t>No hay una </a:t>
            </a:r>
            <a:r>
              <a:rPr lang="en-US" dirty="0" err="1"/>
              <a:t>diferencia</a:t>
            </a:r>
            <a:r>
              <a:rPr lang="en-US" dirty="0"/>
              <a:t> </a:t>
            </a:r>
            <a:r>
              <a:rPr lang="en-US" dirty="0" err="1"/>
              <a:t>significativa</a:t>
            </a:r>
            <a:r>
              <a:rPr lang="en-US" dirty="0"/>
              <a:t> entre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de </a:t>
            </a:r>
            <a:r>
              <a:rPr lang="en-US" dirty="0" err="1"/>
              <a:t>baja</a:t>
            </a:r>
            <a:r>
              <a:rPr lang="en-US" dirty="0"/>
              <a:t> </a:t>
            </a:r>
            <a:r>
              <a:rPr lang="en-US" dirty="0" err="1"/>
              <a:t>dosis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dosis</a:t>
            </a:r>
            <a:r>
              <a:rPr lang="en-US" dirty="0"/>
              <a:t> (p-value = 0.311)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2070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6B4EF-9252-4C7A-86C8-C5C82163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Bibliografía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0E80-9A7C-4764-9E8A-B5D05B4E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0021" cy="4351338"/>
          </a:xfrm>
        </p:spPr>
        <p:txBody>
          <a:bodyPr/>
          <a:lstStyle/>
          <a:p>
            <a:r>
              <a:rPr lang="en-US" dirty="0"/>
              <a:t>[1]</a:t>
            </a:r>
            <a:r>
              <a:rPr lang="en-US" dirty="0">
                <a:hlinkClick r:id="rId2"/>
              </a:rPr>
              <a:t>https://www.cancer.gov/espanol/publicaciones/diccionarios/diccionario-cancer/def/tnp-470</a:t>
            </a:r>
            <a:r>
              <a:rPr lang="en-US" dirty="0"/>
              <a:t> </a:t>
            </a:r>
          </a:p>
          <a:p>
            <a:r>
              <a:rPr lang="en-US" dirty="0"/>
              <a:t>[2] </a:t>
            </a:r>
            <a:r>
              <a:rPr lang="en-US" dirty="0">
                <a:hlinkClick r:id="rId3"/>
              </a:rPr>
              <a:t>https://d-nb.info/1211396851/34?fbclid=IwAR3npXXnQvIAVpUCmBJBzqAdVWBLDGQRbxcrWQIjpgFFKJOfOYn2fwMCukc</a:t>
            </a:r>
            <a:r>
              <a:rPr lang="en-US" dirty="0"/>
              <a:t>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756305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409</Words>
  <Application>Microsoft Office PowerPoint</Application>
  <PresentationFormat>Panorámica</PresentationFormat>
  <Paragraphs>33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Proyecto 1: Introducción a la Ciencia de Datos</vt:lpstr>
      <vt:lpstr>Objetivos del Proyecto:</vt:lpstr>
      <vt:lpstr>Nota sobre el medicamento usado y los datos</vt:lpstr>
      <vt:lpstr>Hipotesis nulas</vt:lpstr>
      <vt:lpstr>Resultados</vt:lpstr>
      <vt:lpstr>Presentación de PowerPoint</vt:lpstr>
      <vt:lpstr>Presentación de PowerPoint</vt:lpstr>
      <vt:lpstr>Conclusiones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1: Introducción a la Ciencia de Datos</dc:title>
  <dc:creator>Manuel Sánchez</dc:creator>
  <cp:lastModifiedBy>Manuel Sánchez</cp:lastModifiedBy>
  <cp:revision>1</cp:revision>
  <dcterms:created xsi:type="dcterms:W3CDTF">2022-02-16T19:02:06Z</dcterms:created>
  <dcterms:modified xsi:type="dcterms:W3CDTF">2022-02-16T19:53:40Z</dcterms:modified>
</cp:coreProperties>
</file>